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A6B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P@5</c:v>
                </c:pt>
                <c:pt idx="1">
                  <c:v>P@10</c:v>
                </c:pt>
                <c:pt idx="2">
                  <c:v>P@20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0.73860000000000003</c:v>
                </c:pt>
                <c:pt idx="1">
                  <c:v>0.71970000000000001</c:v>
                </c:pt>
                <c:pt idx="2">
                  <c:v>0.70550000000000002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2-4318-B8BF-2AFA28839A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Query Expansion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P@5</c:v>
                </c:pt>
                <c:pt idx="1">
                  <c:v>P@10</c:v>
                </c:pt>
                <c:pt idx="2">
                  <c:v>P@20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0.751</c:v>
                </c:pt>
                <c:pt idx="1">
                  <c:v>0.7389</c:v>
                </c:pt>
                <c:pt idx="2">
                  <c:v>0.72519999999999996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D2-4318-B8BF-2AFA28839A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522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54864" cy="4297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E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COURSE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Word Embedding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Search Engine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on AG News using Word2Vec &amp; BERT, approximate nearest-neighbour search, and query expansion — evaluated with P@k, R@k, MAP and nDCG.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Singhal   ·   Dhruv Goel   ·   Brijesh   ·   Rupak Banerjee   ·   Harshit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Gandhinagar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8521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word-embedding based search engine.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Word2Vec or BERT to embed text. Apply approximate nearest-neighbour search to retrieve documents for a query. Use query expansion via related terms. Evaluate using standard IR metrics — Precision@k and Recall@k.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502920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WE CHOSE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828032"/>
            <a:ext cx="91440" cy="914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754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754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 — 50,000 train docs, 4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157216"/>
            <a:ext cx="91440" cy="914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840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5084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sampled test headlines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486400"/>
            <a:ext cx="91440" cy="914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413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5413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Class-label match (standard IR proxy)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5815584"/>
            <a:ext cx="91440" cy="914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742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5742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(own training) + Sentence-BERT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1828800"/>
            <a:ext cx="4937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1828800"/>
            <a:ext cx="73152" cy="4297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brief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4944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backends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090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(skip-gram) trained from scratch on AG News, plus a pretrained Sentence-BERT (MiniLM-L6) — same retrieval API, swap with one flag.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+ fallback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37307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PyNNDescent for fast graph-based retrieval, with an exact cosine fallback when the index can't initialise.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3708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query token, fetch its k nearest terms in the embedding space and append them before encoding.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metrics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5010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 MAP and nDCG@k on top of the required P@k / R@k — they tell us about ranking, not just hit count.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5394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5650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runner, per-epoch pickled checkpoints, and a small interactive query app.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 News — a four-class news corpus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documents indexed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93592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documents (query pool)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8745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55664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55664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4856" y="18745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17736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317736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evaluation queries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68580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0440"/>
            <a:ext cx="73152" cy="2606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CLASSES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320040" cy="3200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041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Geopolitics, conflict, foreign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526280"/>
            <a:ext cx="320040" cy="3200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544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45445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reports, transfers, fixtures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029200"/>
            <a:ext cx="320040" cy="3200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5047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5047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earnings, deals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5532120"/>
            <a:ext cx="320040" cy="32004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5550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Sci/Tech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34640" y="5550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products, research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3520440"/>
            <a:ext cx="40233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0" y="3520440"/>
            <a:ext cx="73152" cy="260604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RULE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4023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retrieved document is treated as relevant if its class label matches the query's class label. This is the same protocol used in classic AG News IR baselines — simple, automatic, and reproducible.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retrieval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17830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54580" y="2679192"/>
            <a:ext cx="91440" cy="128016"/>
          </a:xfrm>
          <a:prstGeom prst="rtTriangl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011680"/>
            <a:ext cx="1783080" cy="164592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13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87752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256532" y="2679192"/>
            <a:ext cx="91440" cy="128016"/>
          </a:xfrm>
          <a:prstGeom prst="rtTriangl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2544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52544" y="2011680"/>
            <a:ext cx="1783080" cy="164592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EB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9704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9704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PyNNDescent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158484" y="2679192"/>
            <a:ext cx="91440" cy="128016"/>
          </a:xfrm>
          <a:prstGeom prst="rtTriangl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54496" y="2011680"/>
            <a:ext cx="178308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1656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91656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boost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060436" y="2679192"/>
            <a:ext cx="91440" cy="128016"/>
          </a:xfrm>
          <a:prstGeom prst="rtTriangl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6448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2011680"/>
            <a:ext cx="1783080" cy="164592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13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93608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608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rot="5400000">
            <a:off x="9962388" y="2679192"/>
            <a:ext cx="91440" cy="128016"/>
          </a:xfrm>
          <a:prstGeom prst="rtTriangl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2011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058400" y="2011680"/>
            <a:ext cx="1783080" cy="16459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9556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9556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9556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P@k, R@k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nDCG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393192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→ Vectors. 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and query is reduced to one dense vector. We L2-normalise them so cosine similarity becomes a dot product.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→ Speed. 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PyNNDescent builds an approximate graph; we keep an exact cosine fallback so small or fragile runs still work.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 → Recall. 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Word2Vec mode, we look up the nearest terms in the embedding space and append them to the query before encoding.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EMBEDDINGS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backends, one search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 (skip-gram, gensim)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the corpus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 (sg=1)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(final)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token vectors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Cosine, L2-normalised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1828800"/>
            <a:ext cx="73152" cy="4297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 (sentence-transformers)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sentence encoder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Pretrained, frozen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vector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(semantic enough)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6112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heavier, often stronger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 nearest-neighbour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9436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ANN INSTEAD OF BRUTE FORCE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doc vector for every query — O(N·d) per query. Fine for thousands, painful for millions.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PyNNDescent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k-nearest-neighbour graph in advance, then walks that graph at query time. Much faster, with a small recall trade-off.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wrapper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simple build() / query() interface, with an exact cosine fallback if the graph fails to initialise (small datasets, interrupted builds, etc.).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539496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CONFIGURATION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50749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PyNNDescent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330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5330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on L2-normalised vectors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586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(k)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558698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 node in the 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8430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58430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 search on small 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4846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— TOP-k NEIGHBOURS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2331720"/>
            <a:ext cx="4434840" cy="361188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26517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1089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7432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338328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6517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32004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0" y="283464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384048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1148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374904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40233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384048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7040" y="420624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466344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49377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475488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0" y="45720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6960" y="49377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98480" y="475488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530352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54864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539496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92640" y="548640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32720" y="5303520"/>
            <a:ext cx="91440" cy="91440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2520" y="3703320"/>
            <a:ext cx="182880" cy="18288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81160" y="4526280"/>
            <a:ext cx="182880" cy="18288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72600" y="3977640"/>
            <a:ext cx="182880" cy="18288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41080" y="4709160"/>
            <a:ext cx="182880" cy="18288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21240" y="4892040"/>
            <a:ext cx="182880" cy="18288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3154680"/>
            <a:ext cx="1920240" cy="19202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EB5C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9070848" y="3995928"/>
            <a:ext cx="237744" cy="237744"/>
          </a:xfrm>
          <a:prstGeom prst="ellipse">
            <a:avLst/>
          </a:prstGeom>
          <a:solidFill>
            <a:srgbClr val="F2A516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5160" y="5440680"/>
            <a:ext cx="4434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5614416"/>
            <a:ext cx="164592" cy="164592"/>
          </a:xfrm>
          <a:prstGeom prst="ellipse">
            <a:avLst/>
          </a:prstGeom>
          <a:solidFill>
            <a:srgbClr val="F2A516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5550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12480" y="5623560"/>
            <a:ext cx="146304" cy="146304"/>
          </a:xfrm>
          <a:prstGeom prst="ellipse">
            <a:avLst/>
          </a:prstGeom>
          <a:solidFill>
            <a:srgbClr val="2EB5C9"/>
          </a:solidFill>
          <a:ln w="9525">
            <a:solidFill>
              <a:srgbClr val="1136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22792" y="5550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neighbours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241280" y="5632704"/>
            <a:ext cx="118872" cy="118872"/>
          </a:xfrm>
          <a:prstGeom prst="ellipse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0" y="5550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docs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QUERY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 recall from the embedding space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queries are noisy.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4-word headline rarely overlaps lexically with a relevant article — even if both are about the same event.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gives us neighbours for free.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index every term vector and, for each query token, fetch its top neighbouring terms — then append them before encoding.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457200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IN 4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201168" cy="201168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74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50749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the raw query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330952"/>
            <a:ext cx="201168" cy="201168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30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5330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token, look up k nearest terms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586984"/>
            <a:ext cx="201168" cy="201168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86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55869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query + expansion terms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843016"/>
            <a:ext cx="201168" cy="201168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843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58430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merged string into one vector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1828800"/>
            <a:ext cx="56692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828800"/>
            <a:ext cx="73152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 (from our run)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query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542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“Israeli Soldiers Kill Palestinian Gunman in Gaza”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terms (Word2Vec neighbours)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4564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4564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3456432"/>
            <a:ext cx="1069848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456432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39328" y="34564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802368" y="345643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02368" y="34564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385876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58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80960" y="3858768"/>
            <a:ext cx="1271016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85876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43416" y="3858768"/>
            <a:ext cx="969264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43416" y="38587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104120" y="3858768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6F1F7"/>
          </a:solidFill>
          <a:ln w="9525">
            <a:solidFill>
              <a:srgbClr val="2EB5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04120" y="38587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4434840"/>
            <a:ext cx="502920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 RETURNED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4864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“Israeli Army Kills Gunman in Gaza Strip”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17920" y="52303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0.91   ·   class label match 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5577840"/>
            <a:ext cx="5212080" cy="45720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1,000 queries: expansion lifted Precision@5 by +1.2% and MAP by +3.3%.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measured the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9339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Precision@k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08960" y="2011680"/>
            <a:ext cx="0" cy="713232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9339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k retrieved, how many are relevant.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199339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top of the list is clean.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26664"/>
            <a:ext cx="73152" cy="1078992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9125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Recall@k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108960" y="3209544"/>
            <a:ext cx="0" cy="713232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191256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relevant docs in the corpus, how many made it into top 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319125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on AG News: thousands relevant per label, so low values are expected.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24528"/>
            <a:ext cx="73152" cy="1078992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89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108960" y="4407408"/>
            <a:ext cx="0" cy="713232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38912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Precision. Rewards putting relevant docs early in the ranking.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43891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ranking quality, not just hit count.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22392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5422392"/>
            <a:ext cx="73152" cy="107899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8698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nDCG@k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108960" y="5605272"/>
            <a:ext cx="0" cy="713232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5586984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gain — relevant docs at rank 1 count more than rank 10.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0" y="55869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proxy to what a real user would feel.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on AG News, 50k docs, 1k queries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0.7510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query expansion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657600" cy="169164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25112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0.6464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325112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2511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relevant docs early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657600" cy="1691640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1584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0.7529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01584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01584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user-perceived quality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68580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 —  baseline vs query expansion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695210664"/>
              </p:ext>
            </p:extLst>
          </p:nvPr>
        </p:nvGraphicFramePr>
        <p:xfrm>
          <a:off x="640080" y="4069080"/>
          <a:ext cx="66751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7589520" y="3703320"/>
            <a:ext cx="40233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0" y="3703320"/>
            <a:ext cx="73152" cy="242316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FROM EXPANSION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81812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2688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+0.0124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81812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32688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P@20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2688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818120" y="5257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2688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+0.0110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818120" y="5623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326880" y="5623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FULL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metric, both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15368"/>
              </p:ext>
            </p:extLst>
          </p:nvPr>
        </p:nvGraphicFramePr>
        <p:xfrm>
          <a:off x="548640" y="1874520"/>
          <a:ext cx="11064240" cy="20116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—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+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from 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937760"/>
            <a:ext cx="73152" cy="118872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climbs across every k. MAP gains the most (+0.040), meaning relevant docs are pushed higher in the ranking. Recall@k stays tiny because each AG News class contains thousands of relevant docs — top-20 can only ever cover a sliver. The 1,000 evaluation queries had zero skipped, so these numbers are over the full sample.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5" name="Text 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QUALITATIVE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engine actually returns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“CRM Best Practices: TCO and ROI (</a:t>
            </a:r>
            <a:r>
              <a:rPr lang="en-US" sz="2000" b="1" i="1" dirty="0" err="1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NewsFactor</a:t>
            </a:r>
            <a:r>
              <a:rPr lang="en-US" sz="2000" b="1" i="1" dirty="0">
                <a:solidFill>
                  <a:srgbClr val="0F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Sci/Tech (4)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48370"/>
              </p:ext>
            </p:extLst>
          </p:nvPr>
        </p:nvGraphicFramePr>
        <p:xfrm>
          <a:off x="548640" y="2880360"/>
          <a:ext cx="11064240" cy="312724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Analyst: CRM Mergers and Acquisitions Picking Up (</a:t>
                      </a:r>
                      <a:r>
                        <a:rPr lang="en-US" sz="1100" dirty="0" err="1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NewsFactor</a:t>
                      </a: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Aberdeen: CRM To Lead SMB Enterprise Software Spending (</a:t>
                      </a:r>
                      <a:r>
                        <a:rPr lang="en-US" sz="1100" dirty="0" err="1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NewsFactor</a:t>
                      </a: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updates CRM sales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Cisco, Microsoft merge IP telephony with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Cisco, Microsoft merge IP telephony with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Analyst: CRM, Supply-Chain Software To Lead Spending (</a:t>
                      </a:r>
                      <a:r>
                        <a:rPr lang="en-US" sz="1100" dirty="0" err="1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NewsFactor</a:t>
                      </a: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5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EDS picks Siebel as its preferred CRM 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B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EDS picks Siebel as its preferred CRM 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the top 8 are Sci/Tech matches. The one off-class hit is still topically related (Internet policy) — the embedding caught the meaning, not just the label.</a:t>
            </a:r>
            <a:endParaRPr lang="en-US" sz="1100" dirty="0"/>
          </a:p>
        </p:txBody>
      </p:sp>
      <p:sp>
        <p:nvSpPr>
          <p:cNvPr id="10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from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21214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helps where it should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semantic neighbours of query tokens act like a soft thesaurus. Precision and ranking metrics all move in the same direction (+0.024 P@5, +0.040 MAP) — a consistent signal, not noise.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53912" y="182880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53912" y="1828800"/>
            <a:ext cx="73152" cy="2121408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103120"/>
            <a:ext cx="457200" cy="45720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22592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recall is a feature of the protocol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22592" y="2697480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 has ~7,500 relevant docs per class. Top-20 covers ≤ 0.3% of the relevant pool by construction. Recall@k tells us less here than ranking metrics like MAP and nDCG.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69080"/>
            <a:ext cx="73152" cy="2121408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is surprisingly competitive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topical corpus like news, averaged 200-d skip-gram vectors land at 0.75 P@5. BERT typically lifts this further at significant cost — so the right backend depends on latency budget.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53912" y="4069080"/>
            <a:ext cx="54864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53912" y="4069080"/>
            <a:ext cx="73152" cy="2121408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4343400"/>
            <a:ext cx="457200" cy="457200"/>
          </a:xfrm>
          <a:prstGeom prst="ellipse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22592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expansions are noisy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22592" y="4937760"/>
            <a:ext cx="43891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of "Intel" included “plantation" and "libraries" — co-occurrence artefacts. Expansion gains are net-positive overall, but per-query it can drag occasional results off-topic.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Code, checkpoints, reproducibility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54864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3063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PACKAGE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src/search_engine/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data.py — AG News loader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embeddings.py — Word2Vec + BERT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ann.py — PyNNDescent + fallback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engine.py — fit / search / expand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evaluation.py — P@k, R@k, MAP, nDCG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text_utils.py — tokeniser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828800"/>
            <a:ext cx="73152" cy="306324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CHECKPOINTS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5152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scripts/ + models/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6974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run_experiment.py — full CLI runner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train_and_save_models.py — trains &amp; pickles per epoch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evaluate_saved_model.py — reload &amp; re-evaluate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models/word2vec/epoch_2000.pkl  ·  72 MB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models/bert/epoch_2000.pkl  ·  76 MB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1828800"/>
            <a:ext cx="73152" cy="306324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67344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app.py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7344" y="26974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UI for live querying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free-text query, get top-k docs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backend &amp; toggle expansion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score, label, and snippet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same engine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C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029200"/>
            <a:ext cx="73152" cy="1417320"/>
          </a:xfrm>
          <a:prstGeom prst="rect">
            <a:avLst/>
          </a:prstGeom>
          <a:solidFill>
            <a:srgbClr val="11365C"/>
          </a:solidFill>
          <a:ln w="12700">
            <a:solidFill>
              <a:srgbClr val="1136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458968"/>
            <a:ext cx="2542032" cy="86868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458968"/>
            <a:ext cx="54864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5532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" y="596188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83864" y="5458968"/>
            <a:ext cx="2542032" cy="86868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3864" y="5458968"/>
            <a:ext cx="54864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8456" y="5532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648456" y="596188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5458968"/>
            <a:ext cx="2542032" cy="86868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4768" y="5458968"/>
            <a:ext cx="54864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532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 MB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09360" y="596188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checkpoints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05672" y="5458968"/>
            <a:ext cx="2542032" cy="868680"/>
          </a:xfrm>
          <a:prstGeom prst="rect">
            <a:avLst/>
          </a:prstGeom>
          <a:solidFill>
            <a:srgbClr val="E6F1F7"/>
          </a:solidFill>
          <a:ln w="6350">
            <a:solidFill>
              <a:srgbClr val="D6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05672" y="5458968"/>
            <a:ext cx="54864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70264" y="5532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970264" y="596188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reproduce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Search Engine  ·  AG News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4864" cy="6400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E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6576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EB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68880" y="199339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retrieval stack — load → embed → ANN → expand → evaluate — with a clean module boundary between data, model, index and metrics.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36576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EB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304495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simple Word2Vec embeddings reach P@5 ≈ 0.72 on AG News, and that nearest-term query expansion gives a consistent +1–2% lift across precision and ranking metrics.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36576" cy="868680"/>
          </a:xfrm>
          <a:prstGeom prst="rect">
            <a:avLst/>
          </a:prstGeom>
          <a:solidFill>
            <a:srgbClr val="2EB5C9"/>
          </a:solidFill>
          <a:ln w="12700">
            <a:solidFill>
              <a:srgbClr val="2EB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EB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409651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CLI, persisted checkpoints, an interactive query app, and an extended evaluation suite (P@k, R@k, MAP, nDCG).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715000"/>
            <a:ext cx="10515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Singhal · Dhruv Goel · Brijesh · Rupak Banerjee · Harshit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2014</Words>
  <Application>Microsoft Office PowerPoint</Application>
  <PresentationFormat>Widescreen</PresentationFormat>
  <Paragraphs>397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Embedding Search Engine - AG News</dc:title>
  <dc:subject>PptxGenJS Presentation</dc:subject>
  <dc:creator>Team: Rahul, Dhruv, Brijesh, Rupak, Harshit</dc:creator>
  <cp:lastModifiedBy>dhruv goel</cp:lastModifiedBy>
  <cp:revision>2</cp:revision>
  <dcterms:created xsi:type="dcterms:W3CDTF">2026-04-20T04:57:34Z</dcterms:created>
  <dcterms:modified xsi:type="dcterms:W3CDTF">2026-04-20T06:52:04Z</dcterms:modified>
</cp:coreProperties>
</file>